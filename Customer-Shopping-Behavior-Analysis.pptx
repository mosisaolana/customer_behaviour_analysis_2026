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BM Plex Sans"/>
      <p:regular r:id="rId201314"/>
    </p:embeddedFont>
    <p:embeddedFont>
      <p:font typeface="IBM Plex Sans Bold"/>
      <p:regular r:id="rId201315"/>
    </p:embeddedFont>
    <p:embeddedFont>
      <p:font typeface="IBM Plex Sans Medium"/>
      <p:regular r:id="rId201316"/>
    </p:embeddedFont>
    <p:embeddedFont>
      <p:font typeface="Roboto"/>
      <p:regular r:id="rId201317"/>
    </p:embeddedFont>
    <p:embeddedFont>
      <p:font typeface="Roboto Medium"/>
      <p:regular r:id="rId201318"/>
    </p:embeddedFont>
    <p:embeddedFont>
      <p:font typeface="Robot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0246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428899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3,900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496119" y="2073846"/>
            <a:ext cx="22727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46053" y="1428899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2946053" y="2073846"/>
            <a:ext cx="2272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Columns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21048" y="2649662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37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1721048" y="3294608"/>
            <a:ext cx="2272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21048" y="3601120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398740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 span demographics, purchase details, and shopping behavior — including discounts, promo codes, and subscription status.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749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3335"/>
            <a:ext cx="5177582" cy="291234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471" y="1276945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85037" y="1272555"/>
            <a:ext cx="2167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Clean &amp; Standardize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485037" y="1635770"/>
            <a:ext cx="216753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Imputed missing ratings by category median; renamed columns to snake_case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7471" y="2604120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85037" y="2599730"/>
            <a:ext cx="2167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485037" y="2962945"/>
            <a:ext cx="2167533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7471" y="3714006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85037" y="3709615"/>
            <a:ext cx="2167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Load to PostgreSQL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485037" y="4072830"/>
            <a:ext cx="21675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Cleaned DataFrame loaded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female customers — a critical segment to understand and target.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73% of total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despite similar average spend (~$59). Subscription conversion is a major growth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Loyal: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3,116 customers (10+ purchases)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Returning: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701 customers (2–10 purchases)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New: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83 customers (1 purchase)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935337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8033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150394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09830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of customers are already Loyal — retention programs can deepen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983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Top Products &amp; Categories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24894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984897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Clothing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291408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Blouse, Pants, Shirt — highest order volume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124894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984897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291408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Jewelry, Sunglasses, Belt lead the category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124894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984897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291408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Sandals, Shoes, Sneakers top sellers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124894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984897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291408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Jacket and Coat dominate purchases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Discounts &amp; Ratings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Products Most Dependent on Discounts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Top-Rated Products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65876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Gloves (3.86★), Sandals (3.84★), Boots (3.82★) lead in customer satisfaction.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49701" y="2271861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8033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486918"/>
            <a:ext cx="177180" cy="1417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0398" y="243482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discount rates on Hats &amp; Sneakers suggest price sensitivity — review margin impact.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1092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Power BI Dashboard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3925119" y="977131"/>
            <a:ext cx="4722763" cy="723305"/>
          </a:xfrm>
          <a:prstGeom prst="roundRect">
            <a:avLst>
              <a:gd name="adj" fmla="val 2664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4053557" y="1105570"/>
            <a:ext cx="446588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3.9K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53557" y="1376065"/>
            <a:ext cx="446588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925119" y="1816819"/>
            <a:ext cx="4722763" cy="723305"/>
          </a:xfrm>
          <a:prstGeom prst="roundRect">
            <a:avLst>
              <a:gd name="adj" fmla="val 2664"/>
            </a:avLst>
          </a:prstGeom>
          <a:solidFill>
            <a:srgbClr val="484B51"/>
          </a:solidFill>
          <a:ln/>
        </p:spPr>
      </p:sp>
      <p:sp>
        <p:nvSpPr>
          <p:cNvPr id="8" name="Text 5"/>
          <p:cNvSpPr/>
          <p:nvPr/>
        </p:nvSpPr>
        <p:spPr>
          <a:xfrm>
            <a:off x="4053557" y="1945258"/>
            <a:ext cx="446588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$59.76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53557" y="2215753"/>
            <a:ext cx="446588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Purchase Amount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25119" y="2656508"/>
            <a:ext cx="4722763" cy="723305"/>
          </a:xfrm>
          <a:prstGeom prst="roundRect">
            <a:avLst>
              <a:gd name="adj" fmla="val 2664"/>
            </a:avLst>
          </a:prstGeom>
          <a:solidFill>
            <a:srgbClr val="484B51"/>
          </a:solidFill>
          <a:ln/>
        </p:spPr>
      </p:sp>
      <p:sp>
        <p:nvSpPr>
          <p:cNvPr id="11" name="Text 8"/>
          <p:cNvSpPr/>
          <p:nvPr/>
        </p:nvSpPr>
        <p:spPr>
          <a:xfrm>
            <a:off x="4053557" y="2784946"/>
            <a:ext cx="446588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3.75★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53557" y="3055441"/>
            <a:ext cx="446588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Review Rating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3496196"/>
            <a:ext cx="4722763" cy="723305"/>
          </a:xfrm>
          <a:prstGeom prst="roundRect">
            <a:avLst>
              <a:gd name="adj" fmla="val 2664"/>
            </a:avLst>
          </a:prstGeom>
          <a:solidFill>
            <a:srgbClr val="484B51"/>
          </a:solidFill>
          <a:ln/>
        </p:spPr>
      </p:sp>
      <p:sp>
        <p:nvSpPr>
          <p:cNvPr id="14" name="Text 11"/>
          <p:cNvSpPr/>
          <p:nvPr/>
        </p:nvSpPr>
        <p:spPr>
          <a:xfrm>
            <a:off x="4053557" y="3624635"/>
            <a:ext cx="446588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27%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53557" y="3895130"/>
            <a:ext cx="446588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Rate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925119" y="4350469"/>
            <a:ext cx="4722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filters: Subscription Status, Gender, Category, Shipping Type. Visuals cover revenue, sales, and age group breakdowns.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656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3306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033067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339578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3306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2033067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03972" y="2339578"/>
            <a:ext cx="2067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033067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2033067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80287" y="2339578"/>
            <a:ext cx="2067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with margins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7658" y="3076724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27658" y="3383235"/>
            <a:ext cx="2067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top-rated products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03972" y="3076724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803972" y="3383235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age groups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2026-08-08T22:58:41Z</dcterms:created>
  <dcterms:modified xsi:type="dcterms:W3CDTF">2026-08-08T22:58:41Z</dcterms:modified>
</cp:coreProperties>
</file>